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94FD3-5147-46A3-BC08-A22F5C96E560}" v="13" dt="2026-03-15T08:45:36.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2367-47EC-C805-989D-DED527E96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8CAFF6-B6B2-EDD4-3001-599CBDA3A2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A12FA9-4E40-6C7A-42A2-8DEB80494D7B}"/>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B7274F83-0107-1EF2-A5FF-91AA1CD670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104CE7-6A6C-CFA3-7BA3-95163A6BEBB8}"/>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4263227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2C6DE-6236-8FA9-EFBA-096371E223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C505FF-CBBB-F968-0625-3FC242A8F9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322E87-521F-C892-2A8F-5BBC3B088366}"/>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9A41BC83-414E-7D37-563A-CCB171E21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35A362-6148-51F1-BFDB-C958FBD70A7D}"/>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1480432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0245-23B9-06D8-A505-41C2B3789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27920-B712-825E-ABDE-D266C153CA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3FEB26-0FF2-09D1-1C53-1F63536F9EC2}"/>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B2EE0367-B749-7752-B655-63300CD33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7AB5D6-8F16-556D-27B3-77394F50F00A}"/>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2779213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27E80-B7FB-B9F0-454A-81ADDC0F4A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4A1249-2890-3D44-8F01-F317566A09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7DC0C4-2515-A1DC-C309-DF91011FA3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EB090C-5093-1A4D-CC89-0A4438B5A870}"/>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6" name="Footer Placeholder 5">
            <a:extLst>
              <a:ext uri="{FF2B5EF4-FFF2-40B4-BE49-F238E27FC236}">
                <a16:creationId xmlns:a16="http://schemas.microsoft.com/office/drawing/2014/main" id="{B876D558-11DC-7119-D357-3B7BFCBD52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C595BF-F74E-5169-02D3-8DEBA7F523B2}"/>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3029748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2A253-B382-7941-3F87-F994F21A2F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C62232-4CB1-7BFB-5F36-DE482AE40C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7ADB97-ECB4-1264-132A-846613769B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8F46E7-3ED9-2EEE-46A9-7A86201ED4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4CC181-7B38-5039-0FB0-C31E8C3F69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2BBF47B-43DB-20E4-E17E-CE925F1943F8}"/>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8" name="Footer Placeholder 7">
            <a:extLst>
              <a:ext uri="{FF2B5EF4-FFF2-40B4-BE49-F238E27FC236}">
                <a16:creationId xmlns:a16="http://schemas.microsoft.com/office/drawing/2014/main" id="{DDF2E6CB-890F-79B3-922F-17B4EDA837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5E1681-5B15-2E96-0621-CC7C5D1D3418}"/>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120531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F4E8E-5055-D02D-4DE8-A975F7F2F1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4F9B401-0B90-3505-CC98-DBC310894853}"/>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4" name="Footer Placeholder 3">
            <a:extLst>
              <a:ext uri="{FF2B5EF4-FFF2-40B4-BE49-F238E27FC236}">
                <a16:creationId xmlns:a16="http://schemas.microsoft.com/office/drawing/2014/main" id="{8D883B51-B76E-F0E7-6C8D-8C516D7ED2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A485F5-8928-2FB3-A54E-412832E375DE}"/>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428668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66D870-1FAE-7692-7483-67C472C879C3}"/>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3" name="Footer Placeholder 2">
            <a:extLst>
              <a:ext uri="{FF2B5EF4-FFF2-40B4-BE49-F238E27FC236}">
                <a16:creationId xmlns:a16="http://schemas.microsoft.com/office/drawing/2014/main" id="{262CD25B-8F52-2B2F-F14C-E58C346CDB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6C9A72-551D-4837-DF32-78F08C250FA3}"/>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3481280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7688-F182-6F67-1129-7B4FBFC165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4BE0F4-AD0E-4723-444B-37A0F3D957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4EAB10-9CB3-2762-013F-9F63FD4C03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FD75D-36C8-5944-51B4-2E42FE2CA8A8}"/>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6" name="Footer Placeholder 5">
            <a:extLst>
              <a:ext uri="{FF2B5EF4-FFF2-40B4-BE49-F238E27FC236}">
                <a16:creationId xmlns:a16="http://schemas.microsoft.com/office/drawing/2014/main" id="{C82DF860-3499-ED25-617F-4D6F43519B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51F4A8-13B6-A76B-9A8F-F95F85F62853}"/>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1256500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B690-9DE8-2E63-2913-8C78A74AAB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B6A8FB-0368-4C21-FE53-405E23C77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DB4187-54E0-EF17-AE73-A66B46B6B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4CEF83-9870-E562-42F9-734A95D32B4D}"/>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6" name="Footer Placeholder 5">
            <a:extLst>
              <a:ext uri="{FF2B5EF4-FFF2-40B4-BE49-F238E27FC236}">
                <a16:creationId xmlns:a16="http://schemas.microsoft.com/office/drawing/2014/main" id="{09ECBC80-924F-194A-769F-C954744247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7E427A-4D90-F5BD-11A5-699AF7ECFDC1}"/>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2133266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9570-ECC2-821B-1E84-097C90739B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9F35CF-1706-05A8-5CCA-21404E20BD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793410-5F82-3F12-C03C-400824DACE68}"/>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DF21EB1B-05A6-6DFC-A163-51360C22C6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89E22A-B683-7841-701C-6578BD6C5192}"/>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3219612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DA137D-0ECE-8CBD-96F7-59AA5FDAF6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6D798D-0C9E-6CC7-33B6-B08AD45D47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27A032-F5B8-54F0-9CF4-90121BF0DCCF}"/>
              </a:ext>
            </a:extLst>
          </p:cNvPr>
          <p:cNvSpPr>
            <a:spLocks noGrp="1"/>
          </p:cNvSpPr>
          <p:nvPr>
            <p:ph type="dt" sz="half" idx="10"/>
          </p:nvPr>
        </p:nvSpPr>
        <p:spPr/>
        <p:txBody>
          <a:body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C4853951-60F2-F18F-6057-BBAA95C6E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31DCBB-5F24-863B-D62D-D149F2CF7A36}"/>
              </a:ext>
            </a:extLst>
          </p:cNvPr>
          <p:cNvSpPr>
            <a:spLocks noGrp="1"/>
          </p:cNvSpPr>
          <p:nvPr>
            <p:ph type="sldNum" sz="quarter" idx="12"/>
          </p:nvPr>
        </p:nvSpPr>
        <p:spPr/>
        <p:txBody>
          <a:bodyPr/>
          <a:lstStyle/>
          <a:p>
            <a:fld id="{20691155-C249-404B-82D6-6E6CA1EBAD90}" type="slidenum">
              <a:rPr lang="en-IN" smtClean="0"/>
              <a:t>‹#›</a:t>
            </a:fld>
            <a:endParaRPr lang="en-IN"/>
          </a:p>
        </p:txBody>
      </p:sp>
    </p:spTree>
    <p:extLst>
      <p:ext uri="{BB962C8B-B14F-4D97-AF65-F5344CB8AC3E}">
        <p14:creationId xmlns:p14="http://schemas.microsoft.com/office/powerpoint/2010/main" val="4258436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9F6EB2-AF95-8563-2A25-E79B42A83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A48194-1263-929C-D3D9-3EC25CCEE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D064BC-CC6F-CA35-F1CF-1974EA00B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45E08B-FBBD-40C8-94CD-B174F5A46A40}" type="datetimeFigureOut">
              <a:rPr lang="en-IN" smtClean="0"/>
              <a:t>15-03-2026</a:t>
            </a:fld>
            <a:endParaRPr lang="en-IN"/>
          </a:p>
        </p:txBody>
      </p:sp>
      <p:sp>
        <p:nvSpPr>
          <p:cNvPr id="5" name="Footer Placeholder 4">
            <a:extLst>
              <a:ext uri="{FF2B5EF4-FFF2-40B4-BE49-F238E27FC236}">
                <a16:creationId xmlns:a16="http://schemas.microsoft.com/office/drawing/2014/main" id="{D65029AC-AD17-958A-CF5A-2799526913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3DC7D11-A493-7352-E381-2778388B14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691155-C249-404B-82D6-6E6CA1EBAD90}" type="slidenum">
              <a:rPr lang="en-IN" smtClean="0"/>
              <a:t>‹#›</a:t>
            </a:fld>
            <a:endParaRPr lang="en-IN"/>
          </a:p>
        </p:txBody>
      </p:sp>
    </p:spTree>
    <p:extLst>
      <p:ext uri="{BB962C8B-B14F-4D97-AF65-F5344CB8AC3E}">
        <p14:creationId xmlns:p14="http://schemas.microsoft.com/office/powerpoint/2010/main" val="1056988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6A7FC2-2EF2-3261-2063-51E71895E7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4377" y="201087"/>
            <a:ext cx="3849195" cy="3019627"/>
          </a:xfrm>
          <a:prstGeom prst="rect">
            <a:avLst/>
          </a:prstGeom>
        </p:spPr>
      </p:pic>
      <p:sp>
        <p:nvSpPr>
          <p:cNvPr id="7" name="Rectangle 2">
            <a:extLst>
              <a:ext uri="{FF2B5EF4-FFF2-40B4-BE49-F238E27FC236}">
                <a16:creationId xmlns:a16="http://schemas.microsoft.com/office/drawing/2014/main" id="{842022EA-583F-4602-DDDB-E774C867628F}"/>
              </a:ext>
            </a:extLst>
          </p:cNvPr>
          <p:cNvSpPr>
            <a:spLocks noGrp="1" noChangeArrowheads="1"/>
          </p:cNvSpPr>
          <p:nvPr>
            <p:ph type="title"/>
          </p:nvPr>
        </p:nvSpPr>
        <p:spPr bwMode="auto">
          <a:xfrm>
            <a:off x="87087" y="3747592"/>
            <a:ext cx="118763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individuals fall within the </a:t>
            </a:r>
            <a:r>
              <a:rPr kumimoji="0" lang="en-US" altLang="en-US" sz="1800" b="1" i="0" u="none" strike="noStrike" cap="none" normalizeH="0" baseline="0" dirty="0">
                <a:ln>
                  <a:noFill/>
                </a:ln>
                <a:solidFill>
                  <a:schemeClr val="tx1"/>
                </a:solidFill>
                <a:effectLst/>
                <a:latin typeface="Arial" panose="020B0604020202020204" pitchFamily="34" charset="0"/>
              </a:rPr>
              <a:t>20–40 age range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Very few individuals are below </a:t>
            </a:r>
            <a:r>
              <a:rPr kumimoji="0" lang="en-US" altLang="en-US" sz="1800" b="1" i="0" u="none" strike="noStrike" cap="none" normalizeH="0" baseline="0" dirty="0">
                <a:ln>
                  <a:noFill/>
                </a:ln>
                <a:solidFill>
                  <a:schemeClr val="tx1"/>
                </a:solidFill>
                <a:effectLst/>
                <a:latin typeface="Arial" panose="020B0604020202020204" pitchFamily="34" charset="0"/>
              </a:rPr>
              <a:t>18 years</a:t>
            </a:r>
            <a:r>
              <a:rPr kumimoji="0" lang="en-US" altLang="en-US" sz="1800" b="0" i="0" u="none" strike="noStrike" cap="none" normalizeH="0" baseline="0" dirty="0">
                <a:ln>
                  <a:noFill/>
                </a:ln>
                <a:solidFill>
                  <a:schemeClr val="tx1"/>
                </a:solidFill>
                <a:effectLst/>
                <a:latin typeface="Arial" panose="020B0604020202020204" pitchFamily="34" charset="0"/>
              </a:rPr>
              <a:t> or above </a:t>
            </a:r>
            <a:r>
              <a:rPr kumimoji="0" lang="en-US" altLang="en-US" sz="1800" b="1" i="0" u="none" strike="noStrike" cap="none" normalizeH="0" baseline="0" dirty="0">
                <a:ln>
                  <a:noFill/>
                </a:ln>
                <a:solidFill>
                  <a:schemeClr val="tx1"/>
                </a:solidFill>
                <a:effectLst/>
                <a:latin typeface="Arial" panose="020B0604020202020204" pitchFamily="34" charset="0"/>
              </a:rPr>
              <a:t>60 years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distribution shows that incidents are </a:t>
            </a:r>
            <a:r>
              <a:rPr kumimoji="0" lang="en-US" altLang="en-US" sz="1800" b="1" i="0" u="none" strike="noStrike" cap="none" normalizeH="0" baseline="0" dirty="0">
                <a:ln>
                  <a:noFill/>
                </a:ln>
                <a:solidFill>
                  <a:schemeClr val="tx1"/>
                </a:solidFill>
                <a:effectLst/>
                <a:latin typeface="Arial" panose="020B0604020202020204" pitchFamily="34" charset="0"/>
              </a:rPr>
              <a:t>more common among young adults and middle-aged individuals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2821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22C24A1-6061-9EE6-0902-552499969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5056" y="135774"/>
            <a:ext cx="4305593" cy="3412970"/>
          </a:xfrm>
          <a:prstGeom prst="rect">
            <a:avLst/>
          </a:prstGeom>
        </p:spPr>
      </p:pic>
      <p:sp>
        <p:nvSpPr>
          <p:cNvPr id="6" name="Rectangle 1">
            <a:extLst>
              <a:ext uri="{FF2B5EF4-FFF2-40B4-BE49-F238E27FC236}">
                <a16:creationId xmlns:a16="http://schemas.microsoft.com/office/drawing/2014/main" id="{F381AED7-F20F-2CCF-8FA8-C8A10F860FA2}"/>
              </a:ext>
            </a:extLst>
          </p:cNvPr>
          <p:cNvSpPr>
            <a:spLocks noGrp="1" noChangeArrowheads="1"/>
          </p:cNvSpPr>
          <p:nvPr>
            <p:ph type="title"/>
          </p:nvPr>
        </p:nvSpPr>
        <p:spPr bwMode="auto">
          <a:xfrm>
            <a:off x="1" y="4363155"/>
            <a:ext cx="11811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Certain racial groups appear more frequently in specific age ranges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Some racial categories show </a:t>
            </a:r>
            <a:r>
              <a:rPr kumimoji="0" lang="en-US" altLang="en-US" sz="1800" b="1" i="0" u="none" strike="noStrike" cap="none" normalizeH="0" baseline="0" dirty="0">
                <a:ln>
                  <a:noFill/>
                </a:ln>
                <a:solidFill>
                  <a:schemeClr val="tx1"/>
                </a:solidFill>
                <a:effectLst/>
                <a:latin typeface="Arial" panose="020B0604020202020204" pitchFamily="34" charset="0"/>
              </a:rPr>
              <a:t>higher representation in younger age groups</a:t>
            </a:r>
            <a:r>
              <a:rPr kumimoji="0" lang="en-US" altLang="en-US" sz="1800" b="0" i="0" u="none" strike="noStrike" cap="none" normalizeH="0" baseline="0" dirty="0">
                <a:ln>
                  <a:noFill/>
                </a:ln>
                <a:solidFill>
                  <a:schemeClr val="tx1"/>
                </a:solidFill>
                <a:effectLst/>
                <a:latin typeface="Arial" panose="020B0604020202020204" pitchFamily="34" charset="0"/>
              </a:rPr>
              <a:t>, while others are distributed across a wider age range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variation indicates </a:t>
            </a:r>
            <a:r>
              <a:rPr kumimoji="0" lang="en-US" altLang="en-US" sz="1800" b="1" i="0" u="none" strike="noStrike" cap="none" normalizeH="0" baseline="0" dirty="0">
                <a:ln>
                  <a:noFill/>
                </a:ln>
                <a:solidFill>
                  <a:schemeClr val="tx1"/>
                </a:solidFill>
                <a:effectLst/>
                <a:latin typeface="Arial" panose="020B0604020202020204" pitchFamily="34" charset="0"/>
              </a:rPr>
              <a:t>demographic differences among groups represented in the dataset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178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24F636-CC37-DCBE-A83D-97FC4D02B3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1375" y="151013"/>
            <a:ext cx="4205593" cy="3419501"/>
          </a:xfrm>
          <a:prstGeom prst="rect">
            <a:avLst/>
          </a:prstGeom>
        </p:spPr>
      </p:pic>
      <p:sp>
        <p:nvSpPr>
          <p:cNvPr id="6" name="Rectangle 1">
            <a:extLst>
              <a:ext uri="{FF2B5EF4-FFF2-40B4-BE49-F238E27FC236}">
                <a16:creationId xmlns:a16="http://schemas.microsoft.com/office/drawing/2014/main" id="{D08749F1-A969-0482-8954-922F0855BEF1}"/>
              </a:ext>
            </a:extLst>
          </p:cNvPr>
          <p:cNvSpPr>
            <a:spLocks noGrp="1" noChangeArrowheads="1"/>
          </p:cNvSpPr>
          <p:nvPr>
            <p:ph type="title"/>
          </p:nvPr>
        </p:nvSpPr>
        <p:spPr bwMode="auto">
          <a:xfrm>
            <a:off x="947738" y="4129088"/>
            <a:ext cx="105156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a:t>
            </a:r>
            <a:r>
              <a:rPr kumimoji="0" lang="en-US" altLang="en-US" sz="1800" b="1" i="0" u="none" strike="noStrike" cap="none" normalizeH="0" baseline="0">
                <a:ln>
                  <a:noFill/>
                </a:ln>
                <a:solidFill>
                  <a:schemeClr val="tx1"/>
                </a:solidFill>
                <a:effectLst/>
                <a:latin typeface="Arial" panose="020B0604020202020204" pitchFamily="34" charset="0"/>
              </a:rPr>
              <a:t>strong relationships between variables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Detect </a:t>
            </a:r>
            <a:r>
              <a:rPr kumimoji="0" lang="en-US" altLang="en-US" sz="1800" b="1" i="0" u="none" strike="noStrike" cap="none" normalizeH="0" baseline="0">
                <a:ln>
                  <a:noFill/>
                </a:ln>
                <a:solidFill>
                  <a:schemeClr val="tx1"/>
                </a:solidFill>
                <a:effectLst/>
                <a:latin typeface="Arial" panose="020B0604020202020204" pitchFamily="34" charset="0"/>
              </a:rPr>
              <a:t>redundant features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Understand which variables might influence clustering</a:t>
            </a:r>
          </a:p>
        </p:txBody>
      </p:sp>
    </p:spTree>
    <p:extLst>
      <p:ext uri="{BB962C8B-B14F-4D97-AF65-F5344CB8AC3E}">
        <p14:creationId xmlns:p14="http://schemas.microsoft.com/office/powerpoint/2010/main" val="4249716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88</Words>
  <Application>Microsoft Office PowerPoint</Application>
  <PresentationFormat>Widescreen</PresentationFormat>
  <Paragraphs>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Aptos Display</vt:lpstr>
      <vt:lpstr>Office Theme</vt:lpstr>
      <vt:lpstr>Most individuals fall within the 20–40 age range Very few individuals are below 18 years or above 60 years The distribution shows that incidents are more common among young adults and middle-aged individuals</vt:lpstr>
      <vt:lpstr>Certain racial groups appear more frequently in specific age ranges Some racial categories show higher representation in younger age groups, while others are distributed across a wider age range The variation indicates demographic differences among groups represented in the dataset</vt:lpstr>
      <vt:lpstr>Identify strong relationships between variables Detect redundant features Understand which variables might influence clustering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prasadaravind382@outlook.com</dc:creator>
  <cp:lastModifiedBy>prasadaravind382@outlook.com</cp:lastModifiedBy>
  <cp:revision>2</cp:revision>
  <dcterms:created xsi:type="dcterms:W3CDTF">2026-03-15T06:55:57Z</dcterms:created>
  <dcterms:modified xsi:type="dcterms:W3CDTF">2026-03-15T09:17:31Z</dcterms:modified>
</cp:coreProperties>
</file>